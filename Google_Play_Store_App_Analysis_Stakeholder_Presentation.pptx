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presentation by framing the analysis as a business decision-support exercise, not a technical code walkthrough. The goal is to understand what makes apps visible, trusted, and promotable in a marketplace.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Play Store environment creates a visibility problem for both users and developers. The analysis supports a recommendation framework based on app performance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defines the project as an analysis-to-decision flow. Keep the focus on business questions: quality thresholds, product optimization, pricing, and risk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data provides enough variety to compare quality, adoption, monetization, audience targeting, and update trends. The cleaned dataset is used for all final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explain the code. Emphasize that cleaning improved trust in the findings by removing missing target values, invalid ratings, and logical anomalies.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shows price dispersion. Explain that the visible outliers represent unusual apps that should not drive mainstream pricing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review volume is important, but the skew makes raw counts unfair for newer or niche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app size as a user experience variable, not only an engineering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important slides. Make clear that 4.0 is not merely good; it is the lower boundary for acceptable recommendation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size sweet spot as a balance between functional value and download/device friction.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that paid apps need stronger quality assurance and sharper positioning than free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bridge slide: the analysis supports a combined decision framework rather than isolated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lower-tail risk, not just averages. The 5th percentile shows where bad user experience is more likely.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graph supports segment-aware pricing rather than blanket pricing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category/genre benchmarking helps avoid unfair comparisons between very different app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turns the EDA into an operational decision tool. Use the heatmap as a risk-screening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update recency can be used as a proxy for active maintenance and market relevance.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be used to recap evidence, not introduce new claims. Keep the language direct and grounded in the earlier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slide as a management interpretation layer. It reframes the analysis into trust, user experience, pricing, and fairness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action slide. Highlight that every recommendation ties back to a measured chart: rating floor, size range, pricing trend, multi-factor relationship, and segment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idea that the analysis is actionable: improve marketplace trust, guide developers, and make recommendation sections more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only if the audience wants next steps. Frame these as practical extensions that require more data, not assumptions made in the current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28816"/>
            <a:ext cx="113842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Play Store App Analysis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138160" y="65653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Stakeholder Report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82880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Google Play Store App Analysis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25786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Optimization &amp; Performance Analytics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" y="3145536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Business-focused insights to improve app visibility, pricing, size strategy, and recommendation decisions.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43159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0A5FA"/>
                </a:solidFill>
              </a:rPr>
              <a:t>10,841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4754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raw app records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21992" y="4334256"/>
            <a:ext cx="0" cy="6217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43159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</a:rPr>
              <a:t>13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77440" y="4754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dataset attributes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86200" y="4334256"/>
            <a:ext cx="0" cy="6217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43159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</a:rPr>
              <a:t>4.3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23360" y="47548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median rating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532120" y="4334256"/>
            <a:ext cx="0" cy="6217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business issue is being addressed?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Business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507492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discovery is difficult in a crowded marketplace.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curators need reliable criteria to highlight promising apps.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Developers need practical guidance on size, pricing, and audience targeting.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53328" y="1298448"/>
            <a:ext cx="0" cy="4434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19088" y="141732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1810512"/>
            <a:ext cx="47548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Poor recommendations reduce user trust and engagement.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launch choices can lower ratings and installs.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thresholds help teams prioritize apps with stronger market potential.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goals and questions answered by the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417320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Identify factors linked to strong app ratings and market penetration.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2.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2057400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Find safe thresholds for app rating, size, and paid pricing.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3.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697480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Understand how audience segments and genres influence rating risk.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4.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3337560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Translate EDA patterns into recommendation and launch decisions.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234440"/>
            <a:ext cx="0" cy="43891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Key Business Questions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48272" y="1874520"/>
            <a:ext cx="42976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rating should qualify an app for recommendation?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larger app size improve user satisfaction?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paid pricing affect user ratings?</a:t>
            </a:r>
            <a:endParaRPr lang="en-US" sz="1300" dirty="0"/>
          </a:p>
          <a:p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audience groups show higher rating risk?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Play Store app listing data used for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10,841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8562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initial records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651760" y="1435608"/>
            <a:ext cx="0" cy="6217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</a:rPr>
              <a:t>9,359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88920" y="18562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clean records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435608"/>
            <a:ext cx="0" cy="6217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580C"/>
                </a:solidFill>
              </a:rPr>
              <a:t>13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18562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key variables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75120" y="1435608"/>
            <a:ext cx="0" cy="62179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606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Key Variables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2971800"/>
            <a:ext cx="46634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App, Category, Genres</a:t>
            </a:r>
            <a:endParaRPr lang="en-US" sz="1270" dirty="0"/>
          </a:p>
          <a:p>
            <a:r>
              <a:rPr lang="en-US" sz="12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Rating, Reviews, Installs</a:t>
            </a:r>
            <a:endParaRPr lang="en-US" sz="1270" dirty="0"/>
          </a:p>
          <a:p>
            <a:r>
              <a:rPr lang="en-US" sz="12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Size, Type, Price</a:t>
            </a:r>
            <a:endParaRPr lang="en-US" sz="1270" dirty="0"/>
          </a:p>
          <a:p>
            <a:r>
              <a:rPr lang="en-US" sz="12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Rating, Last Updated, Version fields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6217920" y="1298448"/>
            <a:ext cx="0" cy="4434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1417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Scope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48272" y="1810512"/>
            <a:ext cx="44348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applications across multiple categories and genres.</a:t>
            </a:r>
            <a:endParaRPr lang="en-US" sz="1270" dirty="0"/>
          </a:p>
          <a:p>
            <a:r>
              <a:rPr lang="en-US" sz="12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on ratings as the main quality signal.</a:t>
            </a:r>
            <a:endParaRPr lang="en-US" sz="1270" dirty="0"/>
          </a:p>
          <a:p>
            <a:r>
              <a:rPr lang="en-US" sz="12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market signals such as installs and review volume.</a:t>
            </a:r>
            <a:endParaRPr lang="en-US" sz="1270" dirty="0"/>
          </a:p>
          <a:p>
            <a:r>
              <a:rPr lang="en-US" sz="12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Update-year trend view available for 2011–2018.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 &amp; Preparation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taken to make the analysis reliable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173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Preparation Actions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810512"/>
            <a:ext cx="502920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Dropped rows with missing ratings because ratings are the target quality signal.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one invalid rating anomaly above 5.0.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Converted Price, Reviews, and Installs into numeric fields.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Imputed missing Android version and current version with the most common value.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7 rows where reviews exceeded installs.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6263640" y="1298448"/>
            <a:ext cx="0" cy="4434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417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Quality Controls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48272" y="1810512"/>
            <a:ext cx="44348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 range validated between 1.0 and 5.0.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apps checked to ensure price equals $0.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consistency checked between reviews and installs.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analysis based on 9,359 valid app records.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Price Outlier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visualization with stakeholder interpretation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nb_images/cell_23_ou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34387"/>
            <a:ext cx="6492240" cy="39983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271016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2252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Finding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452360" y="1408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Most paid apps are low-priced, but 15 apps are priced above $100, including $399–$400 status apps.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52360" y="20391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59669"/>
                </a:solidFill>
              </a:rPr>
              <a:t>Insight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452360" y="2221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Extreme premium apps distort normal pricing patterns.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452360" y="28529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A580C"/>
                </a:solidFill>
              </a:rPr>
              <a:t>Business Impact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452360" y="3035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Pricing strategy should be assessed without non-functional status-symbol outliers.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452360" y="3666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C3AED"/>
                </a:solidFill>
              </a:rPr>
              <a:t>Decision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452360" y="38496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Separate functional paid apps from novelty outliers before defining pricing thresholds.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7452360" y="448056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C2626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52360" y="46634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Use standard paid tiers for business decisions and treat $100+ apps as exceptions.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Reviews Volume Distribution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visualization with stakeholder interpretation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nb_images/cell_26_ou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236770"/>
            <a:ext cx="6492240" cy="23936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271016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2252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Finding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452360" y="1408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Review volume is heavily skewed; the 99th percentile reaches about 9.88M reviews.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52360" y="20391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59669"/>
                </a:solidFill>
              </a:rPr>
              <a:t>Insight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452360" y="2221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 small number of viral apps dominate engagement signals.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452360" y="28529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A580C"/>
                </a:solidFill>
              </a:rPr>
              <a:t>Business Impact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452360" y="3035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Raw review count alone can over-favor already dominant apps.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452360" y="3666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C3AED"/>
                </a:solidFill>
              </a:rPr>
              <a:t>Decision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452360" y="38496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Use review velocity or category-adjusted review metrics for recommendation ranking.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7452360" y="448056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C2626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52360" y="46634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Prioritize fast-growing review momentum rather than only total review count.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Size Distribution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visualization with stakeholder interpretation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nb_images/cell_28_ou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236770"/>
            <a:ext cx="6492240" cy="23936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271016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2252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Finding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452360" y="1408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Median app size is about 20.51 MB; the 90th percentile is about 51.76 MB.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52360" y="20391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59669"/>
                </a:solidFill>
              </a:rPr>
              <a:t>Insight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452360" y="2221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Most apps remain in a moderate download-size range.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452360" y="28529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A580C"/>
                </a:solidFill>
              </a:rPr>
              <a:t>Business Impact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452360" y="3035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Very large apps may increase download friction and storage concerns.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452360" y="3666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C3AED"/>
                </a:solidFill>
              </a:rPr>
              <a:t>Decision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452360" y="38496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Set a practical size budget for apps intended for broader promotion.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7452360" y="448056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C2626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52360" y="46634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Encourage optimization before launch and monitor rating impact for large builds.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Rating Distribution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visualization with stakeholder interpretation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nb_images/cell_30_ou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963" y="1307592"/>
            <a:ext cx="6393018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271016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2252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Finding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452360" y="1408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Ratings cluster around 4.0–4.5 with a median of 4.3; the 25th percentile is 4.0.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52360" y="20391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59669"/>
                </a:solidFill>
              </a:rPr>
              <a:t>Insight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452360" y="2221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 rating below 4.0 places an app in the bottom quartile of the analyzed store data.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452360" y="28529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A580C"/>
                </a:solidFill>
              </a:rPr>
              <a:t>Business Impact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452360" y="3035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Recommendation sections should not promote apps below a clear quality floor.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452360" y="3666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C3AED"/>
                </a:solidFill>
              </a:rPr>
              <a:t>Decision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452360" y="38496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Use 4.0 as a minimum rating threshold for recommendation eligibility.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7452360" y="448056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C2626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52360" y="46634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Treat apps below 4.0 as improvement candidates before promotion.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Size vs. User Rating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visualization with stakeholder interpretation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nb_images/cell_34_ou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6364" y="1307592"/>
            <a:ext cx="4080216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271016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2252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Finding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452360" y="1408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High-rated density is concentrated around roughly 10–40 MB.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52360" y="20391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59669"/>
                </a:solidFill>
              </a:rPr>
              <a:t>Insight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452360" y="2221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Both very small and very large apps show more rating volatility.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452360" y="28529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A580C"/>
                </a:solidFill>
              </a:rPr>
              <a:t>Business Impact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452360" y="3035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Feature depth and download friction both influence user satisfaction.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452360" y="3666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C3AED"/>
                </a:solidFill>
              </a:rPr>
              <a:t>Decision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452360" y="38496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Avoid assuming bigger apps perform better; optimize for a balanced size range.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7452360" y="448056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C2626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52360" y="46634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Target approximately 15–35 MB where feasible, unless product requirements justify otherwise.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Paid App Pricing vs. Rating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visualization with stakeholder interpretation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nb_images/cell_37_ou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1346" y="1307592"/>
            <a:ext cx="4070252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271016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2252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Finding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452360" y="1408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The regression trend shows a mild negative relationship between price and rating.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52360" y="20391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59669"/>
                </a:solidFill>
              </a:rPr>
              <a:t>Insight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452360" y="2221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Users are stricter when they pay for an app.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452360" y="28529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A580C"/>
                </a:solidFill>
              </a:rPr>
              <a:t>Business Impact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452360" y="3035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Premium pricing increases expectation risk and can reduce rating tolerance.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452360" y="3666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C3AED"/>
                </a:solidFill>
              </a:rPr>
              <a:t>Decision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452360" y="38496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Approve higher price points only when the app offers clear, differentiated value.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7452360" y="448056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C2626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52360" y="46634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Keep standard paid apps in the $0.99–$2.99 range where possible.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Multi-Variable Relationship 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visualization with stakeholder interpretation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nb_images/cell_40_ou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618" y="1307592"/>
            <a:ext cx="4093709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271016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2252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Finding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452360" y="1408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Reviews, size, price, and rating show non-linear and skewed relationships.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52360" y="20391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59669"/>
                </a:solidFill>
              </a:rPr>
              <a:t>Insight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452360" y="2221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No single variable explains app quality by itself.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452360" y="28529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A580C"/>
                </a:solidFill>
              </a:rPr>
              <a:t>Business Impact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452360" y="3035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Recommendation decisions should combine quality, engagement, pricing, and size signals.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452360" y="3666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C3AED"/>
                </a:solidFill>
              </a:rPr>
              <a:t>Decision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452360" y="38496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Use a multi-factor scoring approach rather than a one-metric rule.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7452360" y="448056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C2626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52360" y="46634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Build a weighted recommendation score with safeguards for rating and size risk.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Audience vs. Rating Risk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visualization with stakeholder interpretation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nb_images/cell_43_ou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236770"/>
            <a:ext cx="6492240" cy="23936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271016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2252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Finding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452360" y="1408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Mean ratings are broadly close, but lower-tail risk differs by content rating group.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52360" y="20391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59669"/>
                </a:solidFill>
              </a:rPr>
              <a:t>Insight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452360" y="2221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Audience segment affects rating stability and downside risk.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452360" y="28529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A580C"/>
                </a:solidFill>
              </a:rPr>
              <a:t>Business Impact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452360" y="3035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Some segments require stronger monitoring before recommendation placement.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452360" y="3666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C3AED"/>
                </a:solidFill>
              </a:rPr>
              <a:t>Decision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452360" y="38496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Include content rating as a risk adjustment in recommendation decisions.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7452360" y="448056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C2626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52360" y="46634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Apply stricter post-launch quality checks for higher-variance audience segments.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Paid App Price by Audience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visualization with stakeholder interpretation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nb_images/cell_45_ou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71" y="1307592"/>
            <a:ext cx="6370401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271016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2252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Finding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452360" y="1408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Paid app pricing varies by content rating category.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52360" y="20391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59669"/>
                </a:solidFill>
              </a:rPr>
              <a:t>Insight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452360" y="2221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Audience targeting can influence how much users tolerate paying.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452360" y="28529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A580C"/>
                </a:solidFill>
              </a:rPr>
              <a:t>Business Impact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452360" y="3035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Some segments may be more exposed to premium pricing risk.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452360" y="3666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C3AED"/>
                </a:solidFill>
              </a:rPr>
              <a:t>Decision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452360" y="38496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Validate pricing against audience expectations before launch.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7452360" y="448056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C2626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52360" y="46634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Test pricing by audience segment and avoid broad one-size-fits-all pricing.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Genres by User Ratings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visualization with stakeholder interpretation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nb_images/cell_47_ou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03" y="1307592"/>
            <a:ext cx="6264338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271016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2252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Finding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452360" y="1408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Rating distributions vary across the top 15 app genres.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52360" y="20391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59669"/>
                </a:solidFill>
              </a:rPr>
              <a:t>Insight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452360" y="2221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Genre context matters when comparing app quality.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452360" y="28529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A580C"/>
                </a:solidFill>
              </a:rPr>
              <a:t>Business Impact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452360" y="3035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 rating may be strong in one genre but average in another.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452360" y="3666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C3AED"/>
                </a:solidFill>
              </a:rPr>
              <a:t>Decision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452360" y="38496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Benchmark apps against genre peers for fair promotion decisions.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7452360" y="448056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C2626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52360" y="46634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Use genre-specific rating thresholds in recommendation ranking.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 Quality Risk Matrix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visualization with stakeholder interpretation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nb_images/cell_51_ou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57" y="1307592"/>
            <a:ext cx="598203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271016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2252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Finding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452360" y="1408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The 20th percentile rating varies across app size buckets and content-rating groups.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52360" y="20391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59669"/>
                </a:solidFill>
              </a:rPr>
              <a:t>Insight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452360" y="2221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Medium and large-but-not-extreme size ranges are generally safer.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452360" y="28529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A580C"/>
                </a:solidFill>
              </a:rPr>
              <a:t>Business Impact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452360" y="3035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Certain audience-size combinations carry higher quality risk.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452360" y="3666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C3AED"/>
                </a:solidFill>
              </a:rPr>
              <a:t>Decision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452360" y="38496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Use the matrix to flag risk before recommending apps.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7452360" y="448056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C2626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52360" y="46634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Prioritize medium-size apps and require extra validation for risky segments.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 Trend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 visualization with stakeholder interpretation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/mnt/data/nb_images/cell_54_out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32445"/>
            <a:ext cx="6492240" cy="32022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23760" y="1271016"/>
            <a:ext cx="0" cy="44805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22529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2563EB"/>
                </a:solidFill>
              </a:rPr>
              <a:t>Finding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7452360" y="140817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Average ratings trend upward from 2011 to 2018 while app activity grows strongly.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52360" y="20391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59669"/>
                </a:solidFill>
              </a:rPr>
              <a:t>Insight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7452360" y="222199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The market appears to mature over time, with higher technical and review quality expectations.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7452360" y="28529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EA580C"/>
                </a:solidFill>
              </a:rPr>
              <a:t>Business Impact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7452360" y="3035808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Older or rarely updated apps may face quality perception risk.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7452360" y="3666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7C3AED"/>
                </a:solidFill>
              </a:rPr>
              <a:t>Decision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452360" y="38496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Factor recency of updates into promotion eligibility.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7452360" y="4480560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DC2626"/>
                </a:solidFill>
              </a:rPr>
              <a:t>Recommendation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7452360" y="46634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Encourage regular updates and monitor rating shifts after releases.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supported by the notebook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1051560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4.0 rating is the practical quality floor; apps below it fall into the bottom 25%.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rating density appears around a moderate app size range, roughly 10–40 MB.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high review counts are dominated by a small number of mega-scale apps.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paid prices show stricter user expectations and a mild negative rating trend.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segment and genre both affect rating stability and risk.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updated in recent years show better average rating performance in the analyzed period.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Converting findings into stakeholder meaning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Observation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783080"/>
            <a:ext cx="34747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below 4.0 are weak candidates for promotion.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Moderate-sized apps show stronger rating concentration.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users are stricter when prices increase.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Genres and audience groups have different rating-risk profiles.</a:t>
            </a:r>
            <a:endParaRPr lang="en-US" sz="1230" dirty="0"/>
          </a:p>
        </p:txBody>
      </p:sp>
      <p:sp>
        <p:nvSpPr>
          <p:cNvPr id="7" name="Shape 5"/>
          <p:cNvSpPr/>
          <p:nvPr/>
        </p:nvSpPr>
        <p:spPr>
          <a:xfrm>
            <a:off x="4526280" y="1298448"/>
            <a:ext cx="0" cy="4434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Impact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10912" y="1783080"/>
            <a:ext cx="32461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quality directly affects user trust.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Oversized apps can create download and storage friction.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pricing raises customer expectations.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global thresholds may unfairly rank some categories.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8412480" y="1298448"/>
            <a:ext cx="0" cy="4434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1389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Opportunity / Risk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51392" y="1783080"/>
            <a:ext cx="278892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rating floor to protect promoted sections.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developers toward balanced app packages.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value before approving high price points.</a:t>
            </a:r>
            <a:endParaRPr lang="en-US" sz="1230" dirty="0"/>
          </a:p>
          <a:p>
            <a:r>
              <a:rPr lang="en-US" sz="12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 category-aware scoring for fairer ranking.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Data-Driven Decisions &amp;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actions based on the analysis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Decision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1783080"/>
            <a:ext cx="36118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≥4.0 rating for core recommendation eligibility.</a:t>
            </a:r>
            <a:endParaRPr lang="en-US" sz="1190" dirty="0"/>
          </a:p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an app-size optimization target around 15–35 MB.</a:t>
            </a:r>
            <a:endParaRPr lang="en-US" sz="1190" dirty="0"/>
          </a:p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standard paid apps near $0.99–$2.99 unless clearly differentiated.</a:t>
            </a:r>
            <a:endParaRPr lang="en-US" sz="1190" dirty="0"/>
          </a:p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multi-factor ranking model instead of one metric.</a:t>
            </a:r>
            <a:endParaRPr lang="en-US" sz="1190" dirty="0"/>
          </a:p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segment risk checks for high-variance combinations.</a:t>
            </a:r>
            <a:endParaRPr lang="en-US" sz="1190" dirty="0"/>
          </a:p>
        </p:txBody>
      </p:sp>
      <p:sp>
        <p:nvSpPr>
          <p:cNvPr id="7" name="Shape 5"/>
          <p:cNvSpPr/>
          <p:nvPr/>
        </p:nvSpPr>
        <p:spPr>
          <a:xfrm>
            <a:off x="4681728" y="1298448"/>
            <a:ext cx="0" cy="4434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10912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</a:rPr>
              <a:t>Recommended Action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9784" y="1783080"/>
            <a:ext cx="29260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weak apps before promotion.</a:t>
            </a:r>
            <a:endParaRPr lang="en-US" sz="1190" dirty="0"/>
          </a:p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and compress large packages before launch.</a:t>
            </a:r>
            <a:endParaRPr lang="en-US" sz="1190" dirty="0"/>
          </a:p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premium price-value fit with user feedback.</a:t>
            </a:r>
            <a:endParaRPr lang="en-US" sz="1190" dirty="0"/>
          </a:p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rating, reviews, genre, size, and update recency.</a:t>
            </a:r>
            <a:endParaRPr lang="en-US" sz="1190" dirty="0"/>
          </a:p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risky groups before featuring them.</a:t>
            </a:r>
            <a:endParaRPr lang="en-US" sz="1190" dirty="0"/>
          </a:p>
        </p:txBody>
      </p:sp>
      <p:sp>
        <p:nvSpPr>
          <p:cNvPr id="10" name="Shape 8"/>
          <p:cNvSpPr/>
          <p:nvPr/>
        </p:nvSpPr>
        <p:spPr>
          <a:xfrm>
            <a:off x="8229600" y="1298448"/>
            <a:ext cx="0" cy="44348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Expected Outcome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68512" y="1783080"/>
            <a:ext cx="288036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user trust in recommendation sections.</a:t>
            </a:r>
            <a:endParaRPr lang="en-US" sz="1190" dirty="0"/>
          </a:p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download-friction and quality risk.</a:t>
            </a:r>
            <a:endParaRPr lang="en-US" sz="1190" dirty="0"/>
          </a:p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price acceptance and fewer rating penalties.</a:t>
            </a:r>
            <a:endParaRPr lang="en-US" sz="1190" dirty="0"/>
          </a:p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Fairer visibility for promising apps.</a:t>
            </a:r>
            <a:endParaRPr lang="en-US" sz="1190" dirty="0"/>
          </a:p>
          <a:p>
            <a:r>
              <a:rPr lang="en-US" sz="119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exposure to low-quality promoted experiences.</a:t>
            </a:r>
            <a:endParaRPr lang="en-US" sz="11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stakeholder takeaway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105613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 identifies practical rules for app promotion and developer guidance.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important quality signal is the 4.0 rating threshold, supported by the rating distribution.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product opportunity is size and pricing discipline: moderate app size and justified paid pricing.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decisions should use a combined scoring framework rather than one metric.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Overall, the Play Store team can improve recommendation quality by balancing user satisfaction, adoption signals, segment context, and product maintainability.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 to improve decision quality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1056132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user-retention and uninstall data to validate long-term satisfaction.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review velocity after launch and after major updates.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category-specific recommendation thresholds instead of a single global rule.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pricing bands through A/B experiments for paid apps.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app crash rate and performance metrics alongside ratings.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Stakeholder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Play Store App Analysis</dc:title>
  <dc:subject>Google Play Store App Optimization &amp; Performance Analytics</dc:subject>
  <dc:creator>OpenAI</dc:creator>
  <cp:lastModifiedBy>OpenAI</cp:lastModifiedBy>
  <cp:revision>1</cp:revision>
  <dcterms:created xsi:type="dcterms:W3CDTF">2026-05-28T22:15:57Z</dcterms:created>
  <dcterms:modified xsi:type="dcterms:W3CDTF">2026-05-28T22:15:57Z</dcterms:modified>
</cp:coreProperties>
</file>